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60" r:id="rId5"/>
    <p:sldId id="267" r:id="rId6"/>
    <p:sldId id="266" r:id="rId7"/>
    <p:sldId id="258" r:id="rId8"/>
    <p:sldId id="259" r:id="rId9"/>
    <p:sldId id="262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C49F1-3093-E8E5-2601-4B9D3762D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5193" y="213851"/>
            <a:ext cx="7594549" cy="2971801"/>
          </a:xfrm>
        </p:spPr>
        <p:txBody>
          <a:bodyPr>
            <a:normAutofit fontScale="90000"/>
          </a:bodyPr>
          <a:lstStyle/>
          <a:p>
            <a:r>
              <a:rPr lang="es-EC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Proyecto Integrador</a:t>
            </a:r>
            <a:br>
              <a:rPr lang="es-EC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r>
              <a:rPr lang="es-EC"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El impacto de las nuevas tecnologías en la sociedad: visualización del futuro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4E111F-71F3-11A5-09B5-97382BCFB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509" y="3303093"/>
            <a:ext cx="10514730" cy="3341056"/>
          </a:xfrm>
        </p:spPr>
        <p:txBody>
          <a:bodyPr>
            <a:normAutofit fontScale="25000" lnSpcReduction="20000"/>
          </a:bodyPr>
          <a:lstStyle/>
          <a:p>
            <a:pPr algn="ctr">
              <a:lnSpc>
                <a:spcPct val="170000"/>
              </a:lnSpc>
            </a:pPr>
            <a:r>
              <a:rPr lang="es-EC" sz="11100" b="1" dirty="0"/>
              <a:t>Víctor Hugo Largo Torres</a:t>
            </a:r>
            <a:br>
              <a:rPr lang="es-EC" sz="11100" dirty="0"/>
            </a:br>
            <a:r>
              <a:rPr lang="es-EC" sz="11100" dirty="0"/>
              <a:t>Asignatura: </a:t>
            </a:r>
            <a:r>
              <a:rPr lang="es-EC" sz="11100" b="1" dirty="0"/>
              <a:t>LOGICA DE PROGRAMACION</a:t>
            </a:r>
            <a:br>
              <a:rPr lang="es-EC" sz="11100" dirty="0"/>
            </a:br>
            <a:r>
              <a:rPr lang="es-EC" sz="11100" dirty="0"/>
              <a:t>Docente:</a:t>
            </a:r>
            <a:r>
              <a:rPr lang="es-EC" sz="11100" b="1" dirty="0"/>
              <a:t> </a:t>
            </a:r>
            <a:r>
              <a:rPr lang="es-EC" sz="11100" b="1" dirty="0" err="1"/>
              <a:t>Estefania</a:t>
            </a:r>
            <a:r>
              <a:rPr lang="es-EC" sz="11100" b="1" dirty="0"/>
              <a:t> Vanessa Heredia </a:t>
            </a:r>
            <a:r>
              <a:rPr lang="es-EC" sz="11100" b="1" dirty="0" err="1"/>
              <a:t>Jimenez</a:t>
            </a:r>
            <a:br>
              <a:rPr lang="es-EC" sz="11100" dirty="0"/>
            </a:br>
            <a:r>
              <a:rPr lang="es-EC" sz="11100" dirty="0"/>
              <a:t>Fecha: </a:t>
            </a:r>
            <a:r>
              <a:rPr lang="es-EC" sz="11100" b="1" dirty="0"/>
              <a:t>28/02/2026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8099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312C2-1A50-8F1B-240A-FAC0453A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147484"/>
            <a:ext cx="9649491" cy="6341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2400" dirty="0">
                <a:latin typeface="Aptos" panose="020B0004020202020204" pitchFamily="34" charset="0"/>
              </a:rPr>
              <a:t>En la actualidad, las nuevas tecnologías han transformado la forma en que las personas estudian, trabajan y se comunican.</a:t>
            </a:r>
          </a:p>
          <a:p>
            <a:pPr marL="0" indent="0">
              <a:buNone/>
            </a:pPr>
            <a:r>
              <a:rPr lang="es-EC" sz="2400" dirty="0">
                <a:latin typeface="Aptos" panose="020B0004020202020204" pitchFamily="34" charset="0"/>
              </a:rPr>
              <a:t>Sin embargo:</a:t>
            </a:r>
          </a:p>
          <a:p>
            <a:r>
              <a:rPr lang="es-EC" sz="2400" dirty="0">
                <a:latin typeface="Aptos" panose="020B0004020202020204" pitchFamily="34" charset="0"/>
              </a:rPr>
              <a:t>No siempre se realiza un análisis crítico sobre su impacto en la sociedad.</a:t>
            </a:r>
          </a:p>
          <a:p>
            <a:r>
              <a:rPr lang="es-EC" sz="2400" dirty="0">
                <a:latin typeface="Aptos" panose="020B0004020202020204" pitchFamily="34" charset="0"/>
              </a:rPr>
              <a:t>Muchas personas utilizan la tecnología sin comprender cómo funcionan los sistemas digitales.</a:t>
            </a:r>
          </a:p>
          <a:p>
            <a:r>
              <a:rPr lang="es-EC" sz="2400" dirty="0">
                <a:latin typeface="Aptos" panose="020B0004020202020204" pitchFamily="34" charset="0"/>
              </a:rPr>
              <a:t>Existe la necesidad de desarrollar pensamiento lógico y responsabilidad digital.</a:t>
            </a:r>
          </a:p>
          <a:p>
            <a:pPr marL="0" indent="0">
              <a:buNone/>
            </a:pPr>
            <a:r>
              <a:rPr lang="es-EC" sz="2400" dirty="0">
                <a:latin typeface="Aptos" panose="020B0004020202020204" pitchFamily="34" charset="0"/>
              </a:rPr>
              <a:t>Este proyecto busca reflexionar sobre ese impacto mediante el desarrollo de un software funcional.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5542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282CB-5199-F12E-07C2-C9538CEE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980" y="583925"/>
            <a:ext cx="8534400" cy="1507067"/>
          </a:xfrm>
        </p:spPr>
        <p:txBody>
          <a:bodyPr>
            <a:noAutofit/>
          </a:bodyPr>
          <a:lstStyle/>
          <a:p>
            <a:r>
              <a:rPr lang="es-EC" sz="2800" b="1" dirty="0"/>
              <a:t>Objetivo general:</a:t>
            </a:r>
            <a:br>
              <a:rPr lang="es-EC" sz="2800" dirty="0"/>
            </a:br>
            <a:r>
              <a:rPr lang="es-EC" sz="2800" dirty="0"/>
              <a:t>Desarrollar un software funcional aplicando los conocimientos adquiridos en las cuatro unidades de la asignatura.</a:t>
            </a:r>
            <a:br>
              <a:rPr lang="es-EC" sz="2800" dirty="0"/>
            </a:br>
            <a:endParaRPr lang="es-EC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E312C2-1A50-8F1B-240A-FAC0453A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689" y="2297469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s-EC" sz="2400" b="1" dirty="0"/>
              <a:t>Objetivos específicos:</a:t>
            </a:r>
            <a:endParaRPr lang="es-EC" sz="2400" dirty="0"/>
          </a:p>
          <a:p>
            <a:r>
              <a:rPr lang="es-EC" sz="2400" dirty="0"/>
              <a:t>Aplicar diseño y arquitectura de software.</a:t>
            </a:r>
          </a:p>
          <a:p>
            <a:r>
              <a:rPr lang="es-EC" sz="2400" dirty="0"/>
              <a:t>Implementar programación estructurada y funcional.</a:t>
            </a:r>
          </a:p>
          <a:p>
            <a:r>
              <a:rPr lang="es-EC" sz="2400" dirty="0"/>
              <a:t>Utilizar GitHub como herramienta de control de versiones.</a:t>
            </a:r>
          </a:p>
          <a:p>
            <a:r>
              <a:rPr lang="es-EC" sz="2400" dirty="0"/>
              <a:t>Analizar el impacto de la tecnología en la sociedad.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6305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209E7-0EE8-A23C-3928-F1920C9C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E73B1-F70C-4A57-4D25-7CC48306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7" y="206070"/>
            <a:ext cx="10261985" cy="1019276"/>
          </a:xfrm>
        </p:spPr>
        <p:txBody>
          <a:bodyPr>
            <a:normAutofit fontScale="90000"/>
          </a:bodyPr>
          <a:lstStyle/>
          <a:p>
            <a:r>
              <a:rPr lang="es-EC" dirty="0"/>
              <a:t>El proyecto se desarrolló en 8 semanas: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47995E-29BE-5D9A-21AA-8CF01C1F0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421989"/>
            <a:ext cx="7167717" cy="4565855"/>
          </a:xfrm>
        </p:spPr>
        <p:txBody>
          <a:bodyPr>
            <a:normAutofit lnSpcReduction="10000"/>
          </a:bodyPr>
          <a:lstStyle/>
          <a:p>
            <a:r>
              <a:rPr lang="es-EC" sz="2400" dirty="0"/>
              <a:t>Investigación de diagramas y arquitectura.</a:t>
            </a:r>
          </a:p>
          <a:p>
            <a:r>
              <a:rPr lang="es-EC" sz="2400" dirty="0"/>
              <a:t>Diseño de diagramas de flujo.</a:t>
            </a:r>
          </a:p>
          <a:p>
            <a:r>
              <a:rPr lang="es-EC" sz="2400" dirty="0"/>
              <a:t>Configuración del entorno y repositorio en GitHub.</a:t>
            </a:r>
          </a:p>
          <a:p>
            <a:r>
              <a:rPr lang="es-EC" sz="2400" dirty="0"/>
              <a:t>Desarrollo del programa en Python.</a:t>
            </a:r>
          </a:p>
          <a:p>
            <a:r>
              <a:rPr lang="es-EC" sz="2400" dirty="0"/>
              <a:t>Implementación de programación funcional.</a:t>
            </a:r>
          </a:p>
          <a:p>
            <a:r>
              <a:rPr lang="es-EC" sz="2400" dirty="0"/>
              <a:t>Pruebas y optimización del sistema.</a:t>
            </a:r>
          </a:p>
          <a:p>
            <a:pPr marL="0" indent="0">
              <a:buNone/>
            </a:pPr>
            <a:r>
              <a:rPr lang="es-EC" sz="2400" dirty="0"/>
              <a:t>El software desarrollado fue el juego:</a:t>
            </a:r>
          </a:p>
          <a:p>
            <a:pPr marL="0" indent="0">
              <a:buNone/>
            </a:pPr>
            <a:r>
              <a:rPr lang="es-EC" sz="2400" b="1" dirty="0"/>
              <a:t>        “Adivina el Número”</a:t>
            </a:r>
            <a:endParaRPr lang="es-EC" sz="2400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57362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5169E-7984-1CD8-0BC5-D52C8DB4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BEA9C8-F48D-39B8-2C0D-63D4A5101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4" name="Picture 2" descr="Adivina el número: tu primer juego en Python">
            <a:extLst>
              <a:ext uri="{FF2B5EF4-FFF2-40B4-BE49-F238E27FC236}">
                <a16:creationId xmlns:a16="http://schemas.microsoft.com/office/drawing/2014/main" id="{3BD519B3-3297-AB76-05D4-F6113D4BE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94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DB7715A-93D7-4D4E-0FCA-BD798A8A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536" y="0"/>
            <a:ext cx="4527755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DB2B006-BC99-3070-CA06-33F7A077409D}"/>
              </a:ext>
            </a:extLst>
          </p:cNvPr>
          <p:cNvSpPr txBox="1"/>
          <p:nvPr/>
        </p:nvSpPr>
        <p:spPr>
          <a:xfrm>
            <a:off x="599768" y="983226"/>
            <a:ext cx="54962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DIAGRAMA DE </a:t>
            </a:r>
          </a:p>
          <a:p>
            <a:pPr algn="ctr"/>
            <a:r>
              <a:rPr lang="en-US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FLUJO</a:t>
            </a:r>
            <a:endParaRPr lang="es-EC" sz="72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177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61E5-719E-FED6-4915-7308C673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1EAB1-E6A6-0C97-587D-FD0BD462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r>
              <a:rPr lang="es-EC" dirty="0"/>
              <a:t>FUNCIONALIDADES DEL SOFTWARE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0C169D-CE8A-8DCE-3D80-B1BA515AF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45" y="1423220"/>
            <a:ext cx="9030058" cy="44368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C" sz="2800" dirty="0"/>
              <a:t>El programa incluye:</a:t>
            </a:r>
          </a:p>
          <a:p>
            <a:r>
              <a:rPr lang="es-EC" sz="2800" dirty="0"/>
              <a:t>Uso de estructuras condicionales (</a:t>
            </a:r>
            <a:r>
              <a:rPr lang="es-EC" sz="2800" dirty="0" err="1"/>
              <a:t>if</a:t>
            </a:r>
            <a:r>
              <a:rPr lang="es-EC" sz="2800" dirty="0"/>
              <a:t>, </a:t>
            </a:r>
            <a:r>
              <a:rPr lang="es-EC" sz="2800" dirty="0" err="1"/>
              <a:t>elif</a:t>
            </a:r>
            <a:r>
              <a:rPr lang="es-EC" sz="2800" dirty="0"/>
              <a:t>, </a:t>
            </a:r>
            <a:r>
              <a:rPr lang="es-EC" sz="2800" dirty="0" err="1"/>
              <a:t>else</a:t>
            </a:r>
            <a:r>
              <a:rPr lang="es-EC" sz="2800" dirty="0"/>
              <a:t>).</a:t>
            </a:r>
          </a:p>
          <a:p>
            <a:r>
              <a:rPr lang="es-EC" sz="2800" dirty="0"/>
              <a:t>Uso de ciclos repetitivos (</a:t>
            </a:r>
            <a:r>
              <a:rPr lang="es-EC" sz="2800" dirty="0" err="1"/>
              <a:t>while</a:t>
            </a:r>
            <a:r>
              <a:rPr lang="es-EC" sz="2800" dirty="0"/>
              <a:t>).</a:t>
            </a:r>
          </a:p>
          <a:p>
            <a:r>
              <a:rPr lang="es-EC" sz="2800" dirty="0"/>
              <a:t>Ajuste automático del rango de búsqueda.</a:t>
            </a:r>
          </a:p>
          <a:p>
            <a:r>
              <a:rPr lang="es-EC" sz="2800" dirty="0"/>
              <a:t>Contador de intentos.</a:t>
            </a:r>
          </a:p>
          <a:p>
            <a:r>
              <a:rPr lang="es-EC" sz="2800" dirty="0"/>
              <a:t>Validación de respuestas del usuario.</a:t>
            </a:r>
          </a:p>
          <a:p>
            <a:pPr marL="0" indent="0">
              <a:buNone/>
            </a:pPr>
            <a:r>
              <a:rPr lang="es-EC" sz="2800" dirty="0"/>
              <a:t>El sistema aplica lógica computacional para tomar decisiones inteligentes.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78283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D987-20D7-BF06-2DBC-C50943B2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DE52D-8325-7532-B267-9328A751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E1BBAFDE-8F1F-718B-D945-8F8D43BAE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BF50542-AFAC-7607-5497-080E61C8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7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708CA-9074-72D0-A0E3-78FDDD60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003" y="249629"/>
            <a:ext cx="9619994" cy="45719"/>
          </a:xfrm>
        </p:spPr>
        <p:txBody>
          <a:bodyPr>
            <a:normAutofit fontScale="90000"/>
          </a:bodyPr>
          <a:lstStyle/>
          <a:p>
            <a:r>
              <a:rPr lang="es-EC" dirty="0"/>
              <a:t>DEMOSTRACIÓN DEL PROYECTO FINAL.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8472B4-32E8-CA2E-4F08-0B8611FB4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41" y="587478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s-EC" dirty="0"/>
              <a:t>El juego funciona de la siguiente manera:</a:t>
            </a:r>
          </a:p>
          <a:p>
            <a:r>
              <a:rPr lang="es-EC" dirty="0"/>
              <a:t>El usuario piensa un número entre 1 y 100.</a:t>
            </a:r>
          </a:p>
          <a:p>
            <a:r>
              <a:rPr lang="es-EC" dirty="0"/>
              <a:t>La computadora realiza un intento.</a:t>
            </a:r>
          </a:p>
          <a:p>
            <a:r>
              <a:rPr lang="es-EC" dirty="0"/>
              <a:t>El usuario indica si el número es mayor, menor o correcto.</a:t>
            </a:r>
          </a:p>
          <a:p>
            <a:r>
              <a:rPr lang="es-EC" dirty="0"/>
              <a:t>El sistema ajusta el rango automáticamente.</a:t>
            </a:r>
          </a:p>
          <a:p>
            <a:r>
              <a:rPr lang="es-EC" dirty="0"/>
              <a:t>El programa continúa hasta adivinar el número.</a:t>
            </a:r>
          </a:p>
          <a:p>
            <a:pPr marL="0" indent="0">
              <a:buNone/>
            </a:pPr>
            <a:r>
              <a:rPr lang="es-EC" dirty="0"/>
              <a:t>El sistema utiliza un algoritmo eficiente basado en búsqueda binaria.</a:t>
            </a:r>
          </a:p>
          <a:p>
            <a:endParaRPr lang="es-EC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EBFED9-6274-0C56-2B5A-13AF36A24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3077"/>
            <a:ext cx="5938684" cy="282492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6FAED2-170D-A3D7-3913-40E495B02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342" y="4033077"/>
            <a:ext cx="6174657" cy="282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1A1DD-6BED-BBE4-F969-62BA3B0B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BAE59-D169-EF14-2144-E9EA0D03B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22DB7A-B86C-80DA-71DE-B1E0B4765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7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4DA583-406A-3C84-57BA-64288591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56" y="1265903"/>
            <a:ext cx="10534395" cy="5007077"/>
          </a:xfrm>
        </p:spPr>
        <p:txBody>
          <a:bodyPr>
            <a:normAutofit/>
          </a:bodyPr>
          <a:lstStyle/>
          <a:p>
            <a:r>
              <a:rPr lang="es-EC" sz="2400" dirty="0"/>
              <a:t>La tecnología permite crear soluciones inteligentes mediante lógica y programación.</a:t>
            </a:r>
          </a:p>
          <a:p>
            <a:r>
              <a:rPr lang="es-EC" sz="2400" dirty="0"/>
              <a:t>La programación impacta directamente en el desarrollo social y tecnológico.</a:t>
            </a:r>
          </a:p>
          <a:p>
            <a:r>
              <a:rPr lang="es-EC" sz="2400" dirty="0"/>
              <a:t>Comprender cómo funcionan los sistemas digitales fortalece el pensamiento crítico.</a:t>
            </a:r>
          </a:p>
          <a:p>
            <a:r>
              <a:rPr lang="es-EC" sz="2400" dirty="0"/>
              <a:t>El desarrollo de software requiere planificación, diseño, pruebas y optimización.</a:t>
            </a:r>
          </a:p>
          <a:p>
            <a:r>
              <a:rPr lang="es-EC" sz="2400" dirty="0"/>
              <a:t>Las nuevas tecnologías seguirán transformando el futuro, por lo que es fundamental utilizarlas de manera responsable.</a:t>
            </a:r>
          </a:p>
          <a:p>
            <a:endParaRPr lang="es-EC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D4F178-97D3-9BA5-779E-6CC19FD9E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5993" y="277813"/>
            <a:ext cx="45072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s-EC" dirty="0"/>
              <a:t>CONCLUSIONES</a:t>
            </a:r>
            <a:endParaRPr kumimoji="0" lang="es-EC" altLang="es-EC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96858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221</TotalTime>
  <Words>417</Words>
  <Application>Microsoft Office PowerPoint</Application>
  <PresentationFormat>Panorámica</PresentationFormat>
  <Paragraphs>47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Gothic</vt:lpstr>
      <vt:lpstr>Wingdings 3</vt:lpstr>
      <vt:lpstr>Sector</vt:lpstr>
      <vt:lpstr>Proyecto Integrador El impacto de las nuevas tecnologías en la sociedad: visualización del futuro</vt:lpstr>
      <vt:lpstr>Presentación de PowerPoint</vt:lpstr>
      <vt:lpstr>Objetivo general: Desarrollar un software funcional aplicando los conocimientos adquiridos en las cuatro unidades de la asignatura. </vt:lpstr>
      <vt:lpstr>El proyecto se desarrolló en 8 semanas:</vt:lpstr>
      <vt:lpstr>Presentación de PowerPoint</vt:lpstr>
      <vt:lpstr>Presentación de PowerPoint</vt:lpstr>
      <vt:lpstr>FUNCIONALIDADES DEL SOFTWARE</vt:lpstr>
      <vt:lpstr>Presentación de PowerPoint</vt:lpstr>
      <vt:lpstr>DEMOSTRACIÓN DEL PROYECTO FINAL.</vt:lpstr>
      <vt:lpstr>Presentación de PowerPoint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LARGO TORRES LARGO TORRES VICTOR</dc:creator>
  <cp:lastModifiedBy>LARGO TORRES LARGO TORRES VICTOR</cp:lastModifiedBy>
  <cp:revision>2</cp:revision>
  <dcterms:created xsi:type="dcterms:W3CDTF">2026-02-28T22:33:29Z</dcterms:created>
  <dcterms:modified xsi:type="dcterms:W3CDTF">2026-03-01T02:40:17Z</dcterms:modified>
</cp:coreProperties>
</file>